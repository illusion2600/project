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d937d73924e0d" /><Relationship Type="http://schemas.openxmlformats.org/officeDocument/2006/relationships/extended-properties" Target="/docProps/app.xml" Id="Ra277ea3929334794" /><Relationship Type="http://schemas.openxmlformats.org/officeDocument/2006/relationships/officeDocument" Target="/ppt/presentation.xml" Id="R3d293d37e3e9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a0ee6c0f94120"/>
  </p:sldMasterIdLst>
  <p:notesMasterIdLst>
    <p:notesMasterId xmlns:r="http://schemas.openxmlformats.org/officeDocument/2006/relationships" r:id="R0413e6387a504aa3"/>
  </p:notesMasterIdLst>
  <p:sldIdLst>
    <p:sldId xmlns:r="http://schemas.openxmlformats.org/officeDocument/2006/relationships" id="256" r:id="Raecccd357a6b4c27"/>
  </p:sldIdLst>
  <p:sldSz cx="30238700" cy="4276725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2085884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4171767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6257651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8343534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10429418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12515301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14601185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16687068" algn="l" defTabSz="2085884">
      <a:buNone/>
      <a:defRPr sz="82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6715b360e4619" /><Relationship Type="http://schemas.openxmlformats.org/officeDocument/2006/relationships/slideMaster" Target="/ppt/slideMasters/slideMaster1.xml" Id="Rdbfa0ee6c0f94120" /><Relationship Type="http://schemas.openxmlformats.org/officeDocument/2006/relationships/notesMaster" Target="/ppt/notesMasters/notesMaster1.xml" Id="R0413e6387a504aa3" /><Relationship Type="http://schemas.openxmlformats.org/officeDocument/2006/relationships/presProps" Target="/ppt/presProps.xml" Id="R7deff789574649ce" /><Relationship Type="http://schemas.openxmlformats.org/officeDocument/2006/relationships/viewProps" Target="/ppt/viewProps.xml" Id="R2a50d933532f4849" /><Relationship Type="http://schemas.openxmlformats.org/officeDocument/2006/relationships/tableStyles" Target="/ppt/tableStyles.xml" Id="R6ff1712d94ef43c0" /><Relationship Type="http://schemas.openxmlformats.org/officeDocument/2006/relationships/slide" Target="/ppt/slides/slide1.xml" Id="Raecccd357a6b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d0d63523f9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USYD_conference poster templates PORTRAIT_R[2]">
  <a:themeElements>
    <a:clrScheme name="USY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E1126"/>
      </a:accent1>
      <a:accent2>
        <a:srgbClr val="12416C"/>
      </a:accent2>
      <a:accent3>
        <a:srgbClr val="F9B72C"/>
      </a:accent3>
      <a:accent4>
        <a:srgbClr val="FBCD6B"/>
      </a:accent4>
      <a:accent5>
        <a:srgbClr val="006699"/>
      </a:accent5>
      <a:accent6>
        <a:srgbClr val="361D2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SY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2f2fea77542a3" /><Relationship Type="http://schemas.openxmlformats.org/officeDocument/2006/relationships/notesMaster" Target="/ppt/notesMasters/notesMaster1.xml" Id="R01814ecdaef642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94 final submission/showcase poster. Names: Ziyue Wu, Nikhil Khatri and Samowel Aboud; the last spelling follows the user request. The source statement supplied no team email addresses.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in the revised final package: campus_pantry_sql/01_schema.sql (16 tables, three views, composite batch/product reference, booking and staffing integrity); 02_seed_data.sql (synthetic historical fixtures); 03_queries.sql (12 named query groups and 13 SELECT result sets); campus_pantry_app/services.py and cli.py (transactions, active-role checks and full shift workflow); showcase.py (opening100 + receipts10 - waste2 - closing88 =20 estimated units dispensed); evidence/test-results-run-1.json and test-results-run-2.json (44/44 passed in each run, no failures/errors/skips,10 concurrency scenarios, verified disposable database cleanup, PostgreSQL16.15, Python3.12.14, psycopg2-binary2.9.10); docs/CHANGELOG.md and Foodhub_Changes_and_Validation.pdf.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Attendance window is10:00 inclusive to16:00 exclusive, Australia/Sydney, only on the booking date. A same-day late arrival remains eligible after its original shift closes. Standard booking maximum50 noncancelled places per session; one active daily booking by default; staff overrides require an active actor and reason and never bypass capacity. Staffed shifts progress PLANNED toOPEN toCLOSED; no reopening. A real opening count must precede receipts/waste/closing. Closing freezes stock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Canvas assignment: https://canvas.sydney.edu.au/courses/73731/assignments/694765 . The supplied Project Brief requests a one-page poster covering problem, solution, design and prototype. Official portrait template branding/dimensions retained. Diagram shows selected relations, not the complete conceptual ER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showcase uses simulated UniKey identity and terminal token entry. It has no live SSO, email delivery, QR image/scanner integration or public deployment. Tests establish bounded regression evidence, not load/security certification. Synthetic data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acknowledgement: OpenAI Codex assisted with source inspection, implementation, testing, content synthesis, layout and supporting documentation. Team members remain responsible for review, understanding and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fee20fc0645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9dddd8f4f4c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d23ed1479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cc2fcea6249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32ba138b641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5c4a7f44e47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85610c16c42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81f64ef0542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beade27214f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4cc814b8840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b23a3820d4e9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B95C36-EB33-4DD2-9A93-B6900EE9A0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67903" y="13285572"/>
            <a:ext cx="25702895" cy="91672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219001-C26C-442F-A4ED-F5A993B427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35806" y="24234774"/>
            <a:ext cx="21167090" cy="1092940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5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1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5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43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172B81-3DD9-40BF-A275-4139DAD3E7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80117B-CD70-4E49-8BAD-23B8EBF7F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49DD31-5C43-4B5C-96C4-A83765D99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301F3A-17D7-4914-B75B-FE86FC5E7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A2EDED-13A4-45E9-961B-4A9758A77C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B95989-A8F2-4554-8237-B51253F0E6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4A1253-6C8B-4600-8B9B-F35114D2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35280-2CEC-43CB-9491-62408D796E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246F8A-DE4F-4446-8BFF-9FFF2C27D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8649" y="27481922"/>
            <a:ext cx="25702895" cy="8494051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182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5E3186-1106-4167-8D72-5D4974DAB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8649" y="18126590"/>
            <a:ext cx="25702895" cy="9355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5884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1767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5765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4353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3D4321-0D50-4A52-B8FC-2FD2F34483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D3B8A-4D52-4336-8E09-48792BB69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32914C-341E-4E72-AA8C-172FC6A87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5DAB2A-C065-4105-88AD-D0895FD71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76FA4C-373F-4F48-8C91-9FC782F22E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71448" y="44004736"/>
            <a:ext cx="63391023" cy="1244408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09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6985D6-2861-4122-8496-25615A9B2C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0966451" y="44004736"/>
            <a:ext cx="63391026" cy="1244408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09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AD182A7-2B17-4134-A6D5-F879958DF9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D66DFE-1E1F-47B8-BEE9-E45579F738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4F2740-8083-4826-8AB9-85F6D3C131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372AB3-0D9B-4AEF-8E1E-1DA3483DE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936" y="1712673"/>
            <a:ext cx="27214830" cy="71278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7721A3-246B-4536-A6B2-63B3C8D8F8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1935" y="9573135"/>
            <a:ext cx="13360677" cy="398962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54C65-E0EA-4049-A811-65F3BAAF7EA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1935" y="13562763"/>
            <a:ext cx="13360677" cy="2464067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9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518A9CC-0F6E-4301-8344-C4E186B2F2B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60842" y="9573135"/>
            <a:ext cx="13365925" cy="398962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04B13C-10FC-47A8-B9C0-B6EF47C091F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60842" y="13562763"/>
            <a:ext cx="13365925" cy="2464067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9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24C40C1-9B93-4613-B78A-2C82C01DE2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D2C75D1-F503-411A-8049-909125B5FC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D493D91-44B4-4351-9B88-F8A5A2118B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5B4807-E9AD-4F1A-872D-F2B01FB2F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978A8A4-9F20-4136-930D-D55DD7D017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9CD2C2-C64A-43D6-9F8A-04CD9DE42D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4F0DE2C-DD5C-4946-B42C-4B7FB8FB5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80301F7-A886-4CB7-9C60-124DC4C617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FB31D1-C3D9-4EA8-89B4-B121C8E7DA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DC5B026-B2D1-4666-B548-A41FC9AE65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78BA95-7AD3-4098-BB55-418085739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937" y="1702770"/>
            <a:ext cx="9948324" cy="7246673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B22A64-A621-44C4-BEB7-C4705633A2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22492" y="1702774"/>
            <a:ext cx="16904273" cy="365006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600"/>
            </a:lvl1pPr>
            <a:lvl2pPr>
              <a:buNone/>
              <a:defRPr sz="12800"/>
            </a:lvl2pPr>
            <a:lvl3pPr>
              <a:buNone/>
              <a:defRPr sz="10900"/>
            </a:lvl3pPr>
            <a:lvl4pPr>
              <a:buNone/>
              <a:defRPr sz="9100"/>
            </a:lvl4pPr>
            <a:lvl5pPr>
              <a:buNone/>
              <a:defRPr sz="9100"/>
            </a:lvl5pPr>
            <a:lvl6pPr>
              <a:buNone/>
              <a:defRPr sz="9100"/>
            </a:lvl6pPr>
            <a:lvl7pPr>
              <a:buNone/>
              <a:defRPr sz="9100"/>
            </a:lvl7pPr>
            <a:lvl8pPr>
              <a:buNone/>
              <a:defRPr sz="9100"/>
            </a:lvl8pPr>
            <a:lvl9pPr>
              <a:buNone/>
              <a:defRPr sz="9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6DB070-73A8-4F92-8574-53D361A4D3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1937" y="8949447"/>
            <a:ext cx="9948324" cy="2925399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79D154-0874-4A98-A8C3-C4BC99BD2E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E189F0A-31C1-4C2B-90D0-CD36F2B615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989DA0-0595-435D-98DA-39612B18E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388DE5-51A3-4EF1-9C74-05BA961B6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26997" y="29937076"/>
            <a:ext cx="18143220" cy="353424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B1001ED-5B2E-48CD-B48D-8262BE94972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26997" y="3821333"/>
            <a:ext cx="18143220" cy="256603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600"/>
            </a:lvl1pPr>
            <a:lvl2pPr marL="2085884" indent="0">
              <a:buNone/>
              <a:defRPr sz="12800"/>
            </a:lvl2pPr>
            <a:lvl3pPr marL="4171767" indent="0">
              <a:buNone/>
              <a:defRPr sz="10900"/>
            </a:lvl3pPr>
            <a:lvl4pPr marL="6257651" indent="0">
              <a:buNone/>
              <a:defRPr sz="9100"/>
            </a:lvl4pPr>
            <a:lvl5pPr marL="8343534" indent="0">
              <a:buNone/>
              <a:defRPr sz="9100"/>
            </a:lvl5pPr>
            <a:lvl6pPr marL="10429418" indent="0">
              <a:buNone/>
              <a:defRPr sz="9100"/>
            </a:lvl6pPr>
            <a:lvl7pPr marL="12515301" indent="0">
              <a:buNone/>
              <a:defRPr sz="9100"/>
            </a:lvl7pPr>
            <a:lvl8pPr marL="14601185" indent="0">
              <a:buNone/>
              <a:defRPr sz="9100"/>
            </a:lvl8pPr>
            <a:lvl9pPr marL="16687068" indent="0">
              <a:buNone/>
              <a:defRPr sz="91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F2D111-D71C-4A6D-AB04-A35CC66C90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26997" y="33471317"/>
            <a:ext cx="18143220" cy="501920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4E0BF5-A7C4-42D9-8BD8-D226F9BE97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D9D54B-C81C-4AFE-A1C1-2E79AE5C0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F5548D-7CD4-44A8-8E9E-FD2F74C2E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ED416-6F84-46D0-B99A-409D15F5C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5901273-ADF4-4DF5-BEDF-071306BCB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2440E8-5F7F-4778-8E10-88ACCB873F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8720BC-81FE-4F96-8031-E907CCEA99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A4F971-6A65-4CCB-A21F-F0BD3563EE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DBF7378-ED98-435F-BA40-61D6CE242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38592" y="7553572"/>
            <a:ext cx="31818884" cy="16089197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F70D6C-B3B3-4651-93AE-19FE202347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1449" y="7553572"/>
            <a:ext cx="94963166" cy="16089197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E30D9F-5515-4888-8697-5B740CEF47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685007-1588-43AD-95B3-D04A9E1466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D5C8CB-8B42-4944-810F-9A7F33E13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1462f9f6d4ff7" /><Relationship Type="http://schemas.openxmlformats.org/officeDocument/2006/relationships/slideLayout" Target="/ppt/slideLayouts/slideLayout1.xml" Id="R9cebf054f2014250" /><Relationship Type="http://schemas.openxmlformats.org/officeDocument/2006/relationships/slideLayout" Target="/ppt/slideLayouts/slideLayout2.xml" Id="Ra293ddf5bce8431a" /><Relationship Type="http://schemas.openxmlformats.org/officeDocument/2006/relationships/slideLayout" Target="/ppt/slideLayouts/slideLayout3.xml" Id="R5f90fd0f68dd400c" /><Relationship Type="http://schemas.openxmlformats.org/officeDocument/2006/relationships/slideLayout" Target="/ppt/slideLayouts/slideLayout4.xml" Id="R8d6dc96dc2c94a24" /><Relationship Type="http://schemas.openxmlformats.org/officeDocument/2006/relationships/slideLayout" Target="/ppt/slideLayouts/slideLayout5.xml" Id="R6cba30af8ebb479a" /><Relationship Type="http://schemas.openxmlformats.org/officeDocument/2006/relationships/slideLayout" Target="/ppt/slideLayouts/slideLayout6.xml" Id="Rffb9eb877b20400f" /><Relationship Type="http://schemas.openxmlformats.org/officeDocument/2006/relationships/slideLayout" Target="/ppt/slideLayouts/slideLayout7.xml" Id="R76373dbce666499b" /><Relationship Type="http://schemas.openxmlformats.org/officeDocument/2006/relationships/slideLayout" Target="/ppt/slideLayouts/slideLayout8.xml" Id="R7919a93baf374070" /><Relationship Type="http://schemas.openxmlformats.org/officeDocument/2006/relationships/slideLayout" Target="/ppt/slideLayouts/slideLayout9.xml" Id="R5ed303b0b09c4182" /><Relationship Type="http://schemas.openxmlformats.org/officeDocument/2006/relationships/slideLayout" Target="/ppt/slideLayouts/slideLayout10.xml" Id="R424f13d0d0024240" /><Relationship Type="http://schemas.openxmlformats.org/officeDocument/2006/relationships/slideLayout" Target="/ppt/slideLayouts/slideLayout11.xml" Id="R0a83534fb9884e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A38C4B2-823D-4150-88EB-6475E4639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936" y="1712673"/>
            <a:ext cx="27214830" cy="712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17177" tIns="208588" rIns="417177" bIns="208588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4C69E5-708C-4970-8109-D37DD3E51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1936" y="9979028"/>
            <a:ext cx="27214830" cy="28224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17177" tIns="208588" rIns="417177" bIns="208588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48E792-328E-4FC6-9398-1331F218940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1936" y="39638908"/>
            <a:ext cx="7055697" cy="2276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17177" tIns="208588" rIns="417177" bIns="208588" anchor="ctr"/>
          <a:lstStyle xmlns:a="http://schemas.openxmlformats.org/drawingml/2006/main">
            <a:lvl1pPr algn="l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CB9675B-DDFC-3444-B2B3-27FABDDBE67B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35D00D-A58E-44C8-A72A-206EC2FF4E7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31556" y="39638908"/>
            <a:ext cx="9575589" cy="2276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17177" tIns="208588" rIns="417177" bIns="208588" anchor="ctr"/>
          <a:lstStyle xmlns:a="http://schemas.openxmlformats.org/drawingml/2006/main">
            <a:lvl1pPr algn="ctr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DED6F8-016E-4F9A-8D4F-C6282B6732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71069" y="39638908"/>
            <a:ext cx="7055697" cy="2276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17177" tIns="208588" rIns="417177" bIns="208588" anchor="ctr"/>
          <a:lstStyle xmlns:a="http://schemas.openxmlformats.org/drawingml/2006/main">
            <a:lvl1pPr algn="r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035DED-324E-1F49-BCF2-3EAC90B8F3E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ebf054f2014250"/>
    <p:sldLayoutId xmlns:r="http://schemas.openxmlformats.org/officeDocument/2006/relationships" id="2147483650" r:id="Ra293ddf5bce8431a"/>
    <p:sldLayoutId xmlns:r="http://schemas.openxmlformats.org/officeDocument/2006/relationships" id="2147483651" r:id="R5f90fd0f68dd400c"/>
    <p:sldLayoutId xmlns:r="http://schemas.openxmlformats.org/officeDocument/2006/relationships" id="2147483652" r:id="R8d6dc96dc2c94a24"/>
    <p:sldLayoutId xmlns:r="http://schemas.openxmlformats.org/officeDocument/2006/relationships" id="2147483653" r:id="R6cba30af8ebb479a"/>
    <p:sldLayoutId xmlns:r="http://schemas.openxmlformats.org/officeDocument/2006/relationships" id="2147483654" r:id="Rffb9eb877b20400f"/>
    <p:sldLayoutId xmlns:r="http://schemas.openxmlformats.org/officeDocument/2006/relationships" id="2147483655" r:id="R76373dbce666499b"/>
    <p:sldLayoutId xmlns:r="http://schemas.openxmlformats.org/officeDocument/2006/relationships" id="2147483656" r:id="R7919a93baf374070"/>
    <p:sldLayoutId xmlns:r="http://schemas.openxmlformats.org/officeDocument/2006/relationships" id="2147483657" r:id="R5ed303b0b09c4182"/>
    <p:sldLayoutId xmlns:r="http://schemas.openxmlformats.org/officeDocument/2006/relationships" id="2147483658" r:id="R424f13d0d0024240"/>
    <p:sldLayoutId xmlns:r="http://schemas.openxmlformats.org/officeDocument/2006/relationships" id="2147483659" r:id="R0a83534fb9884ea7"/>
  </p:sldLayoutIdLst>
  <p:txStyles>
    <p:titleStyle>
      <a:lvl1pPr xmlns:a="http://schemas.openxmlformats.org/drawingml/2006/main" algn="ctr" defTabSz="2085884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564413" indent="-1564413" algn="l" defTabSz="2085884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389561" indent="-1303677" algn="l" defTabSz="2085884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214709" indent="-1042942" algn="l" defTabSz="2085884">
        <a:spcBef>
          <a:spcPct val="20000"/>
        </a:spcBef>
        <a:buFont typeface="Arial"/>
        <a:buChar char="•"/>
        <a:defRPr sz="109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300592" indent="-1042942" algn="l" defTabSz="2085884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386476" indent="-1042942" algn="l" defTabSz="2085884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1472360" indent="-1042942" algn="l" defTabSz="2085884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558243" indent="-1042942" algn="l" defTabSz="2085884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644127" indent="-1042942" algn="l" defTabSz="2085884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730010" indent="-1042942" algn="l" defTabSz="2085884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085884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171767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257651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343534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429418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2515301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4601185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6687068" algn="l" defTabSz="2085884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USYD_conference poster templates PORTRAIT_R[2]">
  <a:themeElements>
    <a:clrScheme name="USY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E1126"/>
      </a:accent1>
      <a:accent2>
        <a:srgbClr val="12416C"/>
      </a:accent2>
      <a:accent3>
        <a:srgbClr val="F9B72C"/>
      </a:accent3>
      <a:accent4>
        <a:srgbClr val="FBCD6B"/>
      </a:accent4>
      <a:accent5>
        <a:srgbClr val="006699"/>
      </a:accent5>
      <a:accent6>
        <a:srgbClr val="361D2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SY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4dcbf0a44b411d" /><Relationship Type="http://schemas.openxmlformats.org/officeDocument/2006/relationships/image" Target="/ppt/media/image.emf" Id="R4bf6d75e26ef4c63" /><Relationship Type="http://schemas.openxmlformats.org/officeDocument/2006/relationships/notesSlide" Target="/ppt/notesSlides/notesSlide1.xml" Id="R8513c85b2ffd4d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15C40A28-8510-A6AF-0C8E-CEF643C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39801800"/>
            <a:ext cx="30238700" cy="296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6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182200-38AD-9C1C-0347-035F519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0"/>
            <a:ext cx="30238700" cy="6255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6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CB5956D-79D0-1E37-F408-C318B991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33625"/>
            <a:ext cx="18954750" cy="1524000"/>
          </a:xfrm>
          <a:custGeom xmlns:a="http://schemas.openxmlformats.org/drawingml/2006/main"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 algn="l"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Bef>
                <a:spcPct val="0"/>
              </a:spcBef>
              <a:buNone/>
              <a:defRPr sz="10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Campus Pantry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B7B7C85-1FE6-4E05-8DDF-503779CEF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6d75e26ef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6788" y="1240470"/>
            <a:ext cx="7014079" cy="2426103"/>
          </a:xfrm>
          <a:prstGeom xmlns:a="http://schemas.openxmlformats.org/drawingml/2006/main" prst="rect">
            <a:avLst/>
          </a:prstGeom>
        </p:spPr>
      </p:pic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E3672748-11D1-1608-695E-DCB8AAD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62000"/>
            <a:ext cx="13067030" cy="1360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defPPr>
            <a:lvl1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1pPr>
            <a:lvl2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2pPr>
            <a:lvl3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3pPr>
            <a:lvl4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4pPr>
            <a:lvl5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5pPr>
            <a:lvl6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6pPr>
            <a:lvl7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7pPr>
            <a:lvl8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8pPr>
            <a:lvl9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lvl9pPr>
          </a:lstStyle>
          <a:p xmlns:a="http://schemas.openxmlformats.org/drawingml/2006/main">
            <a:pPr>
              <a:buNone/>
              <a:def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defRPr>
            </a:pPr>
            <a:r>
              <a:rPr sz="8325" b="1">
                <a:solidFill>
                  <a:srgbClr val="000000"/>
                </a:solidFill>
                <a:latin typeface="Tw Cen MT"/>
                <a:ea typeface="Tw Cen MT"/>
                <a:cs typeface="Tw Cen MT"/>
              </a:rPr>
              <a:t>COMP9120: Semester 2 2026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1FED7F2-62BB-3A2A-E6EF-37C0EE97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091" y="26355860"/>
            <a:ext cx="19435942" cy="8424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1E1FB22-D6E3-7AEB-3FA7-101E519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3" y="40243125"/>
            <a:ext cx="27746325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Acknowledgements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1" name="Project subtitle">
            <a:extLst xmlns:a="http://schemas.openxmlformats.org/drawingml/2006/main">
              <a:ext uri="{FF2B5EF4-FFF2-40B4-BE49-F238E27FC236}">
                <a16:creationId xmlns:a16="http://schemas.microsoft.com/office/drawing/2014/main" id="{F81596A1-514B-4703-81CD-5FF5A2B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57625"/>
            <a:ext cx="1905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FoodHub booking, attendance and inventory database</a:t>
            </a:r>
          </a:p>
        </p:txBody>
      </p:sp>
      <p:sp>
        <p:nvSpPr>
          <p:cNvPr id="62" name="Team">
            <a:extLst xmlns:a="http://schemas.openxmlformats.org/drawingml/2006/main">
              <a:ext uri="{FF2B5EF4-FFF2-40B4-BE49-F238E27FC236}">
                <a16:creationId xmlns:a16="http://schemas.microsoft.com/office/drawing/2014/main" id="{17DA09A3-A80B-4FF1-BC0D-1C23871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05375"/>
            <a:ext cx="1905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Ziyue Wu, Nikhil Khatri, Samowel Aboud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Group 94</a:t>
            </a:r>
          </a:p>
        </p:txBody>
      </p:sp>
      <p:sp>
        <p:nvSpPr>
          <p:cNvPr id="63" name="The problem">
            <a:extLst xmlns:a="http://schemas.openxmlformats.org/drawingml/2006/main">
              <a:ext uri="{FF2B5EF4-FFF2-40B4-BE49-F238E27FC236}">
                <a16:creationId xmlns:a16="http://schemas.microsoft.com/office/drawing/2014/main" id="{DB1E0F90-C161-4DA8-B8A8-4024B987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1314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64" name="Problem statement">
            <a:extLst xmlns:a="http://schemas.openxmlformats.org/drawingml/2006/main">
              <a:ext uri="{FF2B5EF4-FFF2-40B4-BE49-F238E27FC236}">
                <a16:creationId xmlns:a16="http://schemas.microsoft.com/office/drawing/2014/main" id="{80BBBE27-E084-49C2-B637-13C8DB1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239125"/>
            <a:ext cx="13144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420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Food collections need reliable reservations, enough staff and clear stock records. Separate records make it harder to connect demand, attendance and inventory.</a:t>
            </a:r>
          </a:p>
        </p:txBody>
      </p:sp>
      <p:sp>
        <p:nvSpPr>
          <p:cNvPr id="65" name="Intended value">
            <a:extLst xmlns:a="http://schemas.openxmlformats.org/drawingml/2006/main">
              <a:ext uri="{FF2B5EF4-FFF2-40B4-BE49-F238E27FC236}">
                <a16:creationId xmlns:a16="http://schemas.microsoft.com/office/drawing/2014/main" id="{1E40761D-45F4-4FD6-A6EF-A95F085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858500"/>
            <a:ext cx="1314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900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A linked database supports collection planning and helps staff investigate stock discrepancies.</a:t>
            </a:r>
          </a:p>
        </p:txBody>
      </p:sp>
      <p:sp>
        <p:nvSpPr>
          <p:cNvPr id="66" name="The solution">
            <a:extLst xmlns:a="http://schemas.openxmlformats.org/drawingml/2006/main">
              <a:ext uri="{FF2B5EF4-FFF2-40B4-BE49-F238E27FC236}">
                <a16:creationId xmlns:a16="http://schemas.microsoft.com/office/drawing/2014/main" id="{2F1F887B-7F8B-44D1-89C9-1B586EB3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7191375"/>
            <a:ext cx="1309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67" name="Solution description">
            <a:extLst xmlns:a="http://schemas.openxmlformats.org/drawingml/2006/main">
              <a:ext uri="{FF2B5EF4-FFF2-40B4-BE49-F238E27FC236}">
                <a16:creationId xmlns:a16="http://schemas.microsoft.com/office/drawing/2014/main" id="{7B661110-4AD4-4E7A-8C4D-000D547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239125"/>
            <a:ext cx="130968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2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420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A PostgreSQL showcase for students, volunteers and staff. Students reserve collection sessions, staff record attendance, and inventory records connect purchases to physical counts.</a:t>
            </a:r>
          </a:p>
        </p:txBody>
      </p:sp>
      <p:sp>
        <p:nvSpPr>
          <p:cNvPr id="68" name="Implementation scope">
            <a:extLst xmlns:a="http://schemas.openxmlformats.org/drawingml/2006/main">
              <a:ext uri="{FF2B5EF4-FFF2-40B4-BE49-F238E27FC236}">
                <a16:creationId xmlns:a16="http://schemas.microsoft.com/office/drawing/2014/main" id="{D9F2998B-4379-4D9C-B7A3-64F06F5F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0858500"/>
            <a:ext cx="13096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16 tables     3 reporting views     12 query groups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Daily setup: 3 shifts and 12 half-hour sessions.</a:t>
            </a:r>
          </a:p>
        </p:txBody>
      </p:sp>
      <p:sp>
        <p:nvSpPr>
          <p:cNvPr id="69" name="Overview divider">
            <a:extLst xmlns:a="http://schemas.openxmlformats.org/drawingml/2006/main">
              <a:ext uri="{FF2B5EF4-FFF2-40B4-BE49-F238E27FC236}">
                <a16:creationId xmlns:a16="http://schemas.microsoft.com/office/drawing/2014/main" id="{224D2015-EFDC-43E6-8A9B-6EE3B999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620625"/>
            <a:ext cx="2775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5D8"/>
            </a:solidFill>
            <a:prstDash val="solid"/>
          </a:ln>
        </p:spPr>
      </p:sp>
      <p:sp>
        <p:nvSpPr>
          <p:cNvPr id="70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A457C5B6-1A7B-4D8B-A6E2-F515E14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0492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Python command-line interface</a:t>
            </a:r>
          </a:p>
        </p:txBody>
      </p:sp>
      <p:sp>
        <p:nvSpPr>
          <p:cNvPr id="71" name="Architecture connection">
            <a:extLst xmlns:a="http://schemas.openxmlformats.org/drawingml/2006/main">
              <a:ext uri="{FF2B5EF4-FFF2-40B4-BE49-F238E27FC236}">
                <a16:creationId xmlns:a16="http://schemas.microsoft.com/office/drawing/2014/main" id="{226A50E5-FD5F-4347-96EF-048DFDAD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0492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9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Parameterised psycopg2 queries</a:t>
            </a:r>
          </a:p>
        </p:txBody>
      </p:sp>
      <p:sp>
        <p:nvSpPr>
          <p:cNvPr id="72" name="Architecture database">
            <a:extLst xmlns:a="http://schemas.openxmlformats.org/drawingml/2006/main">
              <a:ext uri="{FF2B5EF4-FFF2-40B4-BE49-F238E27FC236}">
                <a16:creationId xmlns:a16="http://schemas.microsoft.com/office/drawing/2014/main" id="{86DD7E3D-1463-4D4D-B062-F2E7091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130492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39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E64626"/>
                </a:solidFill>
                <a:latin typeface="Calibri"/>
                <a:ea typeface="Calibri"/>
                <a:cs typeface="Calibri"/>
              </a:rPr>
              <a:t>PostgreSQL</a:t>
            </a:r>
          </a:p>
        </p:txBody>
      </p:sp>
      <p:sp>
        <p:nvSpPr>
          <p:cNvPr id="73" name="Architecture left link">
            <a:extLst xmlns:a="http://schemas.openxmlformats.org/drawingml/2006/main">
              <a:ext uri="{FF2B5EF4-FFF2-40B4-BE49-F238E27FC236}">
                <a16:creationId xmlns:a16="http://schemas.microsoft.com/office/drawing/2014/main" id="{4A585887-C3F0-4574-B211-9A33A778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826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74" name="Architecture right link">
            <a:extLst xmlns:a="http://schemas.openxmlformats.org/drawingml/2006/main">
              <a:ext uri="{FF2B5EF4-FFF2-40B4-BE49-F238E27FC236}">
                <a16:creationId xmlns:a16="http://schemas.microsoft.com/office/drawing/2014/main" id="{76CC231E-1A74-43AB-986A-6298CF7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133826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75" name="Database design">
            <a:extLst xmlns:a="http://schemas.openxmlformats.org/drawingml/2006/main">
              <a:ext uri="{FF2B5EF4-FFF2-40B4-BE49-F238E27FC236}">
                <a16:creationId xmlns:a16="http://schemas.microsoft.com/office/drawing/2014/main" id="{74E076D6-AFC5-4AC8-A42C-EC3A593D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478000"/>
            <a:ext cx="2143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Database design</a:t>
            </a:r>
          </a:p>
        </p:txBody>
      </p:sp>
      <p:sp>
        <p:nvSpPr>
          <p:cNvPr id="76" name="Diagram caption">
            <a:extLst xmlns:a="http://schemas.openxmlformats.org/drawingml/2006/main">
              <a:ext uri="{FF2B5EF4-FFF2-40B4-BE49-F238E27FC236}">
                <a16:creationId xmlns:a16="http://schemas.microsoft.com/office/drawing/2014/main" id="{335FF525-F994-4C8B-95A8-094DCB7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430500"/>
            <a:ext cx="2775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Selected relations from the 16-table schema. Cardinalities show permitted records.</a:t>
            </a:r>
          </a:p>
        </p:txBody>
      </p:sp>
      <p:sp>
        <p:nvSpPr>
          <p:cNvPr id="77" name="Entity student">
            <a:extLst xmlns:a="http://schemas.openxmlformats.org/drawingml/2006/main">
              <a:ext uri="{FF2B5EF4-FFF2-40B4-BE49-F238E27FC236}">
                <a16:creationId xmlns:a16="http://schemas.microsoft.com/office/drawing/2014/main" id="{6BA02AD8-6513-4B31-B1B7-A460557E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78" name="student label">
            <a:extLst xmlns:a="http://schemas.openxmlformats.org/drawingml/2006/main">
              <a:ext uri="{FF2B5EF4-FFF2-40B4-BE49-F238E27FC236}">
                <a16:creationId xmlns:a16="http://schemas.microsoft.com/office/drawing/2014/main" id="{5D4BD9F7-367F-4FF7-A34E-8CACAF24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89735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student</a:t>
            </a:r>
          </a:p>
        </p:txBody>
      </p:sp>
      <p:sp>
        <p:nvSpPr>
          <p:cNvPr id="79" name="student key">
            <a:extLst xmlns:a="http://schemas.openxmlformats.org/drawingml/2006/main">
              <a:ext uri="{FF2B5EF4-FFF2-40B4-BE49-F238E27FC236}">
                <a16:creationId xmlns:a16="http://schemas.microsoft.com/office/drawing/2014/main" id="{E3D47184-275B-45DC-BA0E-FB6ACA4F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65935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unikey</a:t>
            </a:r>
          </a:p>
        </p:txBody>
      </p:sp>
      <p:sp>
        <p:nvSpPr>
          <p:cNvPr id="80" name="Entity booking">
            <a:extLst xmlns:a="http://schemas.openxmlformats.org/drawingml/2006/main">
              <a:ext uri="{FF2B5EF4-FFF2-40B4-BE49-F238E27FC236}">
                <a16:creationId xmlns:a16="http://schemas.microsoft.com/office/drawing/2014/main" id="{CEEA1A50-D756-4F47-8420-1DA40DF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81" name="booking label">
            <a:extLst xmlns:a="http://schemas.openxmlformats.org/drawingml/2006/main">
              <a:ext uri="{FF2B5EF4-FFF2-40B4-BE49-F238E27FC236}">
                <a16:creationId xmlns:a16="http://schemas.microsoft.com/office/drawing/2014/main" id="{151A273B-7851-4A90-B556-D4C8CA9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89735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booking</a:t>
            </a:r>
          </a:p>
        </p:txBody>
      </p:sp>
      <p:sp>
        <p:nvSpPr>
          <p:cNvPr id="82" name="booking key">
            <a:extLst xmlns:a="http://schemas.openxmlformats.org/drawingml/2006/main">
              <a:ext uri="{FF2B5EF4-FFF2-40B4-BE49-F238E27FC236}">
                <a16:creationId xmlns:a16="http://schemas.microsoft.com/office/drawing/2014/main" id="{9E39B18A-EA66-4717-85CA-66658AC5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65935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booking_id</a:t>
            </a:r>
          </a:p>
        </p:txBody>
      </p:sp>
      <p:sp>
        <p:nvSpPr>
          <p:cNvPr id="83" name="Entity session">
            <a:extLst xmlns:a="http://schemas.openxmlformats.org/drawingml/2006/main">
              <a:ext uri="{FF2B5EF4-FFF2-40B4-BE49-F238E27FC236}">
                <a16:creationId xmlns:a16="http://schemas.microsoft.com/office/drawing/2014/main" id="{FE5BBFBE-8F51-49C3-AB8A-213DF4E7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666875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84" name="session label">
            <a:extLst xmlns:a="http://schemas.openxmlformats.org/drawingml/2006/main">
              <a:ext uri="{FF2B5EF4-FFF2-40B4-BE49-F238E27FC236}">
                <a16:creationId xmlns:a16="http://schemas.microsoft.com/office/drawing/2014/main" id="{6D62B8F4-7DB7-4485-A21B-9289B9FF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1689735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85" name="session key">
            <a:extLst xmlns:a="http://schemas.openxmlformats.org/drawingml/2006/main">
              <a:ext uri="{FF2B5EF4-FFF2-40B4-BE49-F238E27FC236}">
                <a16:creationId xmlns:a16="http://schemas.microsoft.com/office/drawing/2014/main" id="{4C52E7AD-2DC5-42AB-B3D6-D30E2FC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1765935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session_id</a:t>
            </a:r>
          </a:p>
        </p:txBody>
      </p:sp>
      <p:sp>
        <p:nvSpPr>
          <p:cNvPr id="86" name="Entity pantry_shift">
            <a:extLst xmlns:a="http://schemas.openxmlformats.org/drawingml/2006/main">
              <a:ext uri="{FF2B5EF4-FFF2-40B4-BE49-F238E27FC236}">
                <a16:creationId xmlns:a16="http://schemas.microsoft.com/office/drawing/2014/main" id="{50BD1638-46A7-4876-8314-2E92DE3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0" y="1666875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87" name="pantry_shift label">
            <a:extLst xmlns:a="http://schemas.openxmlformats.org/drawingml/2006/main">
              <a:ext uri="{FF2B5EF4-FFF2-40B4-BE49-F238E27FC236}">
                <a16:creationId xmlns:a16="http://schemas.microsoft.com/office/drawing/2014/main" id="{BAE7E8A0-1269-43B0-8548-6C65DCE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0" y="1689735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pantry_shift</a:t>
            </a:r>
          </a:p>
        </p:txBody>
      </p:sp>
      <p:sp>
        <p:nvSpPr>
          <p:cNvPr id="88" name="pantry_shift key">
            <a:extLst xmlns:a="http://schemas.openxmlformats.org/drawingml/2006/main">
              <a:ext uri="{FF2B5EF4-FFF2-40B4-BE49-F238E27FC236}">
                <a16:creationId xmlns:a16="http://schemas.microsoft.com/office/drawing/2014/main" id="{069B8AFC-0A52-472E-92F6-33B4C5B6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0" y="1765935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shift_id</a:t>
            </a:r>
          </a:p>
        </p:txBody>
      </p:sp>
      <p:sp>
        <p:nvSpPr>
          <p:cNvPr id="89" name="1 : 0..N relation">
            <a:extLst xmlns:a="http://schemas.openxmlformats.org/drawingml/2006/main">
              <a:ext uri="{FF2B5EF4-FFF2-40B4-BE49-F238E27FC236}">
                <a16:creationId xmlns:a16="http://schemas.microsoft.com/office/drawing/2014/main" id="{1B604A8F-56C1-489E-B5BB-E3B7940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736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90" name="1 : 0..N cardinality">
            <a:extLst xmlns:a="http://schemas.openxmlformats.org/drawingml/2006/main">
              <a:ext uri="{FF2B5EF4-FFF2-40B4-BE49-F238E27FC236}">
                <a16:creationId xmlns:a16="http://schemas.microsoft.com/office/drawing/2014/main" id="{67483515-1829-44BB-8C3D-A9F4F8D8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830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1 : 0..N</a:t>
            </a:r>
          </a:p>
        </p:txBody>
      </p:sp>
      <p:sp>
        <p:nvSpPr>
          <p:cNvPr id="91" name="0..N : 1 relation">
            <a:extLst xmlns:a="http://schemas.openxmlformats.org/drawingml/2006/main">
              <a:ext uri="{FF2B5EF4-FFF2-40B4-BE49-F238E27FC236}">
                <a16:creationId xmlns:a16="http://schemas.microsoft.com/office/drawing/2014/main" id="{74401476-C25B-43B5-9F28-AA8D9275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75736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92" name="0..N : 1 cardinality">
            <a:extLst xmlns:a="http://schemas.openxmlformats.org/drawingml/2006/main">
              <a:ext uri="{FF2B5EF4-FFF2-40B4-BE49-F238E27FC236}">
                <a16:creationId xmlns:a16="http://schemas.microsoft.com/office/drawing/2014/main" id="{BFD180B7-E176-430D-88DF-A38B29C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69830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0..N : 1</a:t>
            </a:r>
          </a:p>
        </p:txBody>
      </p:sp>
      <p:sp>
        <p:nvSpPr>
          <p:cNvPr id="93" name="0..N : 1 relation">
            <a:extLst xmlns:a="http://schemas.openxmlformats.org/drawingml/2006/main">
              <a:ext uri="{FF2B5EF4-FFF2-40B4-BE49-F238E27FC236}">
                <a16:creationId xmlns:a16="http://schemas.microsoft.com/office/drawing/2014/main" id="{FB625494-BF5E-45AA-BE1E-B2AA866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175736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94" name="0..N : 1 cardinality">
            <a:extLst xmlns:a="http://schemas.openxmlformats.org/drawingml/2006/main">
              <a:ext uri="{FF2B5EF4-FFF2-40B4-BE49-F238E27FC236}">
                <a16:creationId xmlns:a16="http://schemas.microsoft.com/office/drawing/2014/main" id="{CA5467BA-A543-4AB5-BBB4-88BD271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169830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0..N : 1</a:t>
            </a:r>
          </a:p>
        </p:txBody>
      </p:sp>
      <p:sp>
        <p:nvSpPr>
          <p:cNvPr id="95" name="Entity purchase_record">
            <a:extLst xmlns:a="http://schemas.openxmlformats.org/drawingml/2006/main">
              <a:ext uri="{FF2B5EF4-FFF2-40B4-BE49-F238E27FC236}">
                <a16:creationId xmlns:a16="http://schemas.microsoft.com/office/drawing/2014/main" id="{C025AB0C-4AC7-4B73-93C1-C38F8793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96" name="purchase_record label">
            <a:extLst xmlns:a="http://schemas.openxmlformats.org/drawingml/2006/main">
              <a:ext uri="{FF2B5EF4-FFF2-40B4-BE49-F238E27FC236}">
                <a16:creationId xmlns:a16="http://schemas.microsoft.com/office/drawing/2014/main" id="{3A723E21-769B-488A-AEC8-5ECBA34F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3110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purchase_record</a:t>
            </a:r>
          </a:p>
        </p:txBody>
      </p:sp>
      <p:sp>
        <p:nvSpPr>
          <p:cNvPr id="97" name="purchase_record key">
            <a:extLst xmlns:a="http://schemas.openxmlformats.org/drawingml/2006/main">
              <a:ext uri="{FF2B5EF4-FFF2-40B4-BE49-F238E27FC236}">
                <a16:creationId xmlns:a16="http://schemas.microsoft.com/office/drawing/2014/main" id="{0DB1D089-E232-48C3-A23F-F4856057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9310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purchase_id</a:t>
            </a:r>
          </a:p>
        </p:txBody>
      </p:sp>
      <p:sp>
        <p:nvSpPr>
          <p:cNvPr id="98" name="Entity purchase_record_line">
            <a:extLst xmlns:a="http://schemas.openxmlformats.org/drawingml/2006/main">
              <a:ext uri="{FF2B5EF4-FFF2-40B4-BE49-F238E27FC236}">
                <a16:creationId xmlns:a16="http://schemas.microsoft.com/office/drawing/2014/main" id="{FB9AA9F9-ACE7-47E8-A0A6-4EE572C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99" name="purchase_record_line label">
            <a:extLst xmlns:a="http://schemas.openxmlformats.org/drawingml/2006/main">
              <a:ext uri="{FF2B5EF4-FFF2-40B4-BE49-F238E27FC236}">
                <a16:creationId xmlns:a16="http://schemas.microsoft.com/office/drawing/2014/main" id="{8DD6C3AE-0592-4D74-8AF0-9A6CF767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23110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purchase_record_line</a:t>
            </a:r>
          </a:p>
        </p:txBody>
      </p:sp>
      <p:sp>
        <p:nvSpPr>
          <p:cNvPr id="100" name="purchase_record_line key">
            <a:extLst xmlns:a="http://schemas.openxmlformats.org/drawingml/2006/main">
              <a:ext uri="{FF2B5EF4-FFF2-40B4-BE49-F238E27FC236}">
                <a16:creationId xmlns:a16="http://schemas.microsoft.com/office/drawing/2014/main" id="{9BA43595-8D35-4542-853C-DCE7A93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9310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purchase_line_id</a:t>
            </a:r>
          </a:p>
        </p:txBody>
      </p:sp>
      <p:sp>
        <p:nvSpPr>
          <p:cNvPr id="101" name="Entity stock_batch">
            <a:extLst xmlns:a="http://schemas.openxmlformats.org/drawingml/2006/main">
              <a:ext uri="{FF2B5EF4-FFF2-40B4-BE49-F238E27FC236}">
                <a16:creationId xmlns:a16="http://schemas.microsoft.com/office/drawing/2014/main" id="{BC428525-03FD-4B1C-B3CE-37F7752C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000250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102" name="stock_batch label">
            <a:extLst xmlns:a="http://schemas.openxmlformats.org/drawingml/2006/main">
              <a:ext uri="{FF2B5EF4-FFF2-40B4-BE49-F238E27FC236}">
                <a16:creationId xmlns:a16="http://schemas.microsoft.com/office/drawing/2014/main" id="{33A62ECF-EBEC-48DC-B7D5-5E100F1E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2023110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stock_batch</a:t>
            </a:r>
          </a:p>
        </p:txBody>
      </p:sp>
      <p:sp>
        <p:nvSpPr>
          <p:cNvPr id="103" name="stock_batch key">
            <a:extLst xmlns:a="http://schemas.openxmlformats.org/drawingml/2006/main">
              <a:ext uri="{FF2B5EF4-FFF2-40B4-BE49-F238E27FC236}">
                <a16:creationId xmlns:a16="http://schemas.microsoft.com/office/drawing/2014/main" id="{BA676DD6-DAA5-4B98-81A2-62A87F3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2099310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stock_number</a:t>
            </a:r>
          </a:p>
        </p:txBody>
      </p:sp>
      <p:sp>
        <p:nvSpPr>
          <p:cNvPr id="104" name="Entity stock_count">
            <a:extLst xmlns:a="http://schemas.openxmlformats.org/drawingml/2006/main">
              <a:ext uri="{FF2B5EF4-FFF2-40B4-BE49-F238E27FC236}">
                <a16:creationId xmlns:a16="http://schemas.microsoft.com/office/drawing/2014/main" id="{99756D7F-510A-4401-B440-82C8CE7F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0" y="2000250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6"/>
          </a:solidFill>
          <a:ln xmlns:a="http://schemas.openxmlformats.org/drawingml/2006/main" w="19050">
            <a:solidFill>
              <a:srgbClr val="9AAAB1"/>
            </a:solidFill>
          </a:ln>
        </p:spPr>
      </p:sp>
      <p:sp>
        <p:nvSpPr>
          <p:cNvPr id="105" name="stock_count label">
            <a:extLst xmlns:a="http://schemas.openxmlformats.org/drawingml/2006/main">
              <a:ext uri="{FF2B5EF4-FFF2-40B4-BE49-F238E27FC236}">
                <a16:creationId xmlns:a16="http://schemas.microsoft.com/office/drawing/2014/main" id="{C9B4DD78-02E7-47AE-8B64-00848FAE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0" y="20231100"/>
            <a:ext cx="518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stock_count</a:t>
            </a:r>
          </a:p>
        </p:txBody>
      </p:sp>
      <p:sp>
        <p:nvSpPr>
          <p:cNvPr id="106" name="stock_count key">
            <a:extLst xmlns:a="http://schemas.openxmlformats.org/drawingml/2006/main">
              <a:ext uri="{FF2B5EF4-FFF2-40B4-BE49-F238E27FC236}">
                <a16:creationId xmlns:a16="http://schemas.microsoft.com/office/drawing/2014/main" id="{ECEE7366-4F7C-471C-8D42-CEEF43B5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0" y="20993100"/>
            <a:ext cx="518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PK  stock_count_id</a:t>
            </a:r>
          </a:p>
        </p:txBody>
      </p:sp>
      <p:sp>
        <p:nvSpPr>
          <p:cNvPr id="107" name="1 : 0..N relation">
            <a:extLst xmlns:a="http://schemas.openxmlformats.org/drawingml/2006/main">
              <a:ext uri="{FF2B5EF4-FFF2-40B4-BE49-F238E27FC236}">
                <a16:creationId xmlns:a16="http://schemas.microsoft.com/office/drawing/2014/main" id="{B4B7F779-2B7C-4BD8-8DF6-5AACC8CA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073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108" name="1 : 0..N cardinality">
            <a:extLst xmlns:a="http://schemas.openxmlformats.org/drawingml/2006/main">
              <a:ext uri="{FF2B5EF4-FFF2-40B4-BE49-F238E27FC236}">
                <a16:creationId xmlns:a16="http://schemas.microsoft.com/office/drawing/2014/main" id="{384B20C3-EE8F-4DF4-A5AD-0F09C65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168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1 : 0..N</a:t>
            </a:r>
          </a:p>
        </p:txBody>
      </p:sp>
      <p:sp>
        <p:nvSpPr>
          <p:cNvPr id="109" name="1 : 0..N relation">
            <a:extLst xmlns:a="http://schemas.openxmlformats.org/drawingml/2006/main">
              <a:ext uri="{FF2B5EF4-FFF2-40B4-BE49-F238E27FC236}">
                <a16:creationId xmlns:a16="http://schemas.microsoft.com/office/drawing/2014/main" id="{6BE2ECD8-2728-4B00-A7D4-3900CC5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09073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110" name="1 : 0..N cardinality">
            <a:extLst xmlns:a="http://schemas.openxmlformats.org/drawingml/2006/main">
              <a:ext uri="{FF2B5EF4-FFF2-40B4-BE49-F238E27FC236}">
                <a16:creationId xmlns:a16="http://schemas.microsoft.com/office/drawing/2014/main" id="{BF95743A-A328-4B55-81F6-5CE4A2A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3168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1 : 0..N</a:t>
            </a:r>
          </a:p>
        </p:txBody>
      </p:sp>
      <p:sp>
        <p:nvSpPr>
          <p:cNvPr id="111" name="1 : 0..N relation">
            <a:extLst xmlns:a="http://schemas.openxmlformats.org/drawingml/2006/main">
              <a:ext uri="{FF2B5EF4-FFF2-40B4-BE49-F238E27FC236}">
                <a16:creationId xmlns:a16="http://schemas.microsoft.com/office/drawing/2014/main" id="{0E820CC3-8A72-4C88-A04C-65BF6A38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209073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7D86"/>
            </a:solidFill>
            <a:prstDash val="solid"/>
          </a:ln>
        </p:spPr>
      </p:sp>
      <p:sp>
        <p:nvSpPr>
          <p:cNvPr id="112" name="1 : 0..N cardinality">
            <a:extLst xmlns:a="http://schemas.openxmlformats.org/drawingml/2006/main">
              <a:ext uri="{FF2B5EF4-FFF2-40B4-BE49-F238E27FC236}">
                <a16:creationId xmlns:a16="http://schemas.microsoft.com/office/drawing/2014/main" id="{FB6B4628-7A6D-43DA-8EE2-8864AAB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03168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77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1 : 0..N</a:t>
            </a:r>
          </a:p>
        </p:txBody>
      </p:sp>
      <p:sp>
        <p:nvSpPr>
          <p:cNvPr id="113" name="Booking FK caption">
            <a:extLst xmlns:a="http://schemas.openxmlformats.org/drawingml/2006/main">
              <a:ext uri="{FF2B5EF4-FFF2-40B4-BE49-F238E27FC236}">
                <a16:creationId xmlns:a16="http://schemas.microsoft.com/office/drawing/2014/main" id="{B7D14EF5-F5FB-40A2-9607-8C08ECD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97575"/>
            <a:ext cx="2775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booking references student and session; session references pantry_shift.</a:t>
            </a:r>
          </a:p>
        </p:txBody>
      </p:sp>
      <p:sp>
        <p:nvSpPr>
          <p:cNvPr id="114" name="Inventory FK caption">
            <a:extLst xmlns:a="http://schemas.openxmlformats.org/drawingml/2006/main">
              <a:ext uri="{FF2B5EF4-FFF2-40B4-BE49-F238E27FC236}">
                <a16:creationId xmlns:a16="http://schemas.microsoft.com/office/drawing/2014/main" id="{A82BC3EC-8726-4CF1-87CD-2D1D3A4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21800"/>
            <a:ext cx="2775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225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Each batch references a purchase line; each physical count references a batch.</a:t>
            </a:r>
          </a:p>
        </p:txBody>
      </p:sp>
      <p:sp>
        <p:nvSpPr>
          <p:cNvPr id="115" name="Identity design title">
            <a:extLst xmlns:a="http://schemas.openxmlformats.org/drawingml/2006/main">
              <a:ext uri="{FF2B5EF4-FFF2-40B4-BE49-F238E27FC236}">
                <a16:creationId xmlns:a16="http://schemas.microsoft.com/office/drawing/2014/main" id="{1152BEB0-2C24-4A2E-BA2E-0E579795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98125"/>
            <a:ext cx="1314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Shared identity and roles</a:t>
            </a:r>
          </a:p>
        </p:txBody>
      </p:sp>
      <p:sp>
        <p:nvSpPr>
          <p:cNvPr id="116" name="Identity design body">
            <a:extLst xmlns:a="http://schemas.openxmlformats.org/drawingml/2006/main">
              <a:ext uri="{FF2B5EF4-FFF2-40B4-BE49-F238E27FC236}">
                <a16:creationId xmlns:a16="http://schemas.microsoft.com/office/drawing/2014/main" id="{764E5E21-088B-4E04-AA80-B02C275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60125"/>
            <a:ext cx="1314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person stores identity once. student, volunteer and staff share its key and may overlap. Assignment tables link staff and volunteers to shifts.</a:t>
            </a:r>
          </a:p>
        </p:txBody>
      </p:sp>
      <p:sp>
        <p:nvSpPr>
          <p:cNvPr id="117" name="Normalisation title">
            <a:extLst xmlns:a="http://schemas.openxmlformats.org/drawingml/2006/main">
              <a:ext uri="{FF2B5EF4-FFF2-40B4-BE49-F238E27FC236}">
                <a16:creationId xmlns:a16="http://schemas.microsoft.com/office/drawing/2014/main" id="{EF831994-E1A6-488A-978C-46311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3098125"/>
            <a:ext cx="1309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12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Separation and trade-offs</a:t>
            </a:r>
          </a:p>
        </p:txBody>
      </p:sp>
      <p:sp>
        <p:nvSpPr>
          <p:cNvPr id="118" name="Normalisation body">
            <a:extLst xmlns:a="http://schemas.openxmlformats.org/drawingml/2006/main">
              <a:ext uri="{FF2B5EF4-FFF2-40B4-BE49-F238E27FC236}">
                <a16:creationId xmlns:a16="http://schemas.microsoft.com/office/drawing/2014/main" id="{14EA7716-317C-4E75-B303-1397310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3860125"/>
            <a:ext cx="13096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product stores product details. shift_stock_count and stock_adjustment support reconciliation. stock_batch retains product_id, with a composite foreign key enforcing its purchase-line match.</a:t>
            </a:r>
          </a:p>
        </p:txBody>
      </p:sp>
      <p:sp>
        <p:nvSpPr>
          <p:cNvPr id="119" name="Design divider">
            <a:extLst xmlns:a="http://schemas.openxmlformats.org/drawingml/2006/main">
              <a:ext uri="{FF2B5EF4-FFF2-40B4-BE49-F238E27FC236}">
                <a16:creationId xmlns:a16="http://schemas.microsoft.com/office/drawing/2014/main" id="{0A03E59E-6CFF-4BEE-B4F3-DCD56C49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0"/>
            <a:ext cx="2775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5D8"/>
            </a:solidFill>
            <a:prstDash val="solid"/>
          </a:ln>
        </p:spPr>
      </p:sp>
      <p:sp>
        <p:nvSpPr>
          <p:cNvPr id="120" name="Booking transaction">
            <a:extLst xmlns:a="http://schemas.openxmlformats.org/drawingml/2006/main">
              <a:ext uri="{FF2B5EF4-FFF2-40B4-BE49-F238E27FC236}">
                <a16:creationId xmlns:a16="http://schemas.microsoft.com/office/drawing/2014/main" id="{500A24F6-FD08-4128-AD04-F1D42C1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84375"/>
            <a:ext cx="1314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Booking transaction</a:t>
            </a:r>
          </a:p>
        </p:txBody>
      </p:sp>
      <p:sp>
        <p:nvSpPr>
          <p:cNvPr id="121" name="Transaction sequence">
            <a:extLst xmlns:a="http://schemas.openxmlformats.org/drawingml/2006/main">
              <a:ext uri="{FF2B5EF4-FFF2-40B4-BE49-F238E27FC236}">
                <a16:creationId xmlns:a16="http://schemas.microsoft.com/office/drawing/2014/main" id="{EA452199-2F17-466B-B79B-E7E3EC7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0"/>
            <a:ext cx="13382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1  Lock the student record.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2  Lock session; validate time and staff override.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3  Request an insert with a random token.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4  Trigger rechecks capacity and daily limits.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5  Commit on success; roll back on error.</a:t>
            </a:r>
          </a:p>
        </p:txBody>
      </p:sp>
      <p:sp>
        <p:nvSpPr>
          <p:cNvPr id="122" name="Booking protections">
            <a:extLst xmlns:a="http://schemas.openxmlformats.org/drawingml/2006/main">
              <a:ext uri="{FF2B5EF4-FFF2-40B4-BE49-F238E27FC236}">
                <a16:creationId xmlns:a16="http://schemas.microsoft.com/office/drawing/2014/main" id="{3798C3FB-641C-4330-9C2A-BF8EA7E6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0"/>
            <a:ext cx="1338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600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At most 50 non-cancelled bookings per session. One active daily booking by default. An extra daily booking needs staff identification and a reason; capacity still applies.</a:t>
            </a:r>
          </a:p>
        </p:txBody>
      </p:sp>
      <p:sp>
        <p:nvSpPr>
          <p:cNvPr id="123" name="Prototype workflows">
            <a:extLst xmlns:a="http://schemas.openxmlformats.org/drawingml/2006/main">
              <a:ext uri="{FF2B5EF4-FFF2-40B4-BE49-F238E27FC236}">
                <a16:creationId xmlns:a16="http://schemas.microsoft.com/office/drawing/2014/main" id="{0F1FCE08-C78F-49D7-AF95-5EA1C00D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7384375"/>
            <a:ext cx="1309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Showcase workflows</a:t>
            </a:r>
          </a:p>
        </p:txBody>
      </p:sp>
      <p:sp>
        <p:nvSpPr>
          <p:cNvPr id="124" name="Workflow booking title">
            <a:extLst xmlns:a="http://schemas.openxmlformats.org/drawingml/2006/main">
              <a:ext uri="{FF2B5EF4-FFF2-40B4-BE49-F238E27FC236}">
                <a16:creationId xmlns:a16="http://schemas.microsoft.com/office/drawing/2014/main" id="{518A4E56-2414-4F78-9B34-868D6A6F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8479750"/>
            <a:ext cx="1309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Collection and attendance</a:t>
            </a:r>
          </a:p>
        </p:txBody>
      </p:sp>
      <p:sp>
        <p:nvSpPr>
          <p:cNvPr id="125" name="Workflow booking body">
            <a:extLst xmlns:a="http://schemas.openxmlformats.org/drawingml/2006/main">
              <a:ext uri="{FF2B5EF4-FFF2-40B4-BE49-F238E27FC236}">
                <a16:creationId xmlns:a16="http://schemas.microsoft.com/office/drawing/2014/main" id="{F22A1448-3A85-4717-B05E-C6E3FDC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9194125"/>
            <a:ext cx="1309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Staff enter tokens for same-day attendance, 10:00-16:00 Sydney. Late arrivals remain valid after their shift closes.</a:t>
            </a:r>
          </a:p>
        </p:txBody>
      </p:sp>
      <p:sp>
        <p:nvSpPr>
          <p:cNvPr id="126" name="Workflow volunteer title">
            <a:extLst xmlns:a="http://schemas.openxmlformats.org/drawingml/2006/main">
              <a:ext uri="{FF2B5EF4-FFF2-40B4-BE49-F238E27FC236}">
                <a16:creationId xmlns:a16="http://schemas.microsoft.com/office/drawing/2014/main" id="{8E05F972-D0E1-46A2-A96E-235490E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0670500"/>
            <a:ext cx="1309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Staffing and shift lifecycle</a:t>
            </a:r>
          </a:p>
        </p:txBody>
      </p:sp>
      <p:sp>
        <p:nvSpPr>
          <p:cNvPr id="127" name="Workflow volunteer body">
            <a:extLst xmlns:a="http://schemas.openxmlformats.org/drawingml/2006/main">
              <a:ext uri="{FF2B5EF4-FFF2-40B4-BE49-F238E27FC236}">
                <a16:creationId xmlns:a16="http://schemas.microsoft.com/office/drawing/2014/main" id="{C26BD856-E583-4DFC-84DC-26776EE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1384875"/>
            <a:ext cx="1309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Staff approve volunteer requests. Staffed shifts follow PLANNED, OPEN and CLOSED.</a:t>
            </a:r>
          </a:p>
        </p:txBody>
      </p:sp>
      <p:sp>
        <p:nvSpPr>
          <p:cNvPr id="128" name="Workflow inventory title">
            <a:extLst xmlns:a="http://schemas.openxmlformats.org/drawingml/2006/main">
              <a:ext uri="{FF2B5EF4-FFF2-40B4-BE49-F238E27FC236}">
                <a16:creationId xmlns:a16="http://schemas.microsoft.com/office/drawing/2014/main" id="{5CBE5C63-67B0-407E-AA96-B357CB67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2861250"/>
            <a:ext cx="1309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Inventory operations</a:t>
            </a:r>
          </a:p>
        </p:txBody>
      </p:sp>
      <p:sp>
        <p:nvSpPr>
          <p:cNvPr id="129" name="Workflow inventory body">
            <a:extLst xmlns:a="http://schemas.openxmlformats.org/drawingml/2006/main">
              <a:ext uri="{FF2B5EF4-FFF2-40B4-BE49-F238E27FC236}">
                <a16:creationId xmlns:a16="http://schemas.microsoft.com/office/drawing/2014/main" id="{F0529D2C-0C24-49D1-A069-B550B495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3575625"/>
            <a:ext cx="1309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75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Record a real opening before receipts, waste or closing. Close reconciled shifts to protect stock records.</a:t>
            </a:r>
          </a:p>
        </p:txBody>
      </p:sp>
      <p:sp>
        <p:nvSpPr>
          <p:cNvPr id="130" name="Prototype divider">
            <a:extLst xmlns:a="http://schemas.openxmlformats.org/drawingml/2006/main">
              <a:ext uri="{FF2B5EF4-FFF2-40B4-BE49-F238E27FC236}">
                <a16:creationId xmlns:a16="http://schemas.microsoft.com/office/drawing/2014/main" id="{91A7848A-7483-4194-A3C1-97A38CC8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37750"/>
            <a:ext cx="2775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5D8"/>
            </a:solidFill>
            <a:prstDash val="solid"/>
          </a:ln>
        </p:spPr>
      </p:sp>
      <p:sp>
        <p:nvSpPr>
          <p:cNvPr id="131" name="A stock decision">
            <a:extLst xmlns:a="http://schemas.openxmlformats.org/drawingml/2006/main">
              <a:ext uri="{FF2B5EF4-FFF2-40B4-BE49-F238E27FC236}">
                <a16:creationId xmlns:a16="http://schemas.microsoft.com/office/drawing/2014/main" id="{E9B7491E-F765-48F6-859D-2224C358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0"/>
            <a:ext cx="1314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A stock decision</a:t>
            </a:r>
          </a:p>
        </p:txBody>
      </p:sp>
      <p:sp>
        <p:nvSpPr>
          <p:cNvPr id="132" name="Stock formula">
            <a:extLst xmlns:a="http://schemas.openxmlformats.org/drawingml/2006/main">
              <a:ext uri="{FF2B5EF4-FFF2-40B4-BE49-F238E27FC236}">
                <a16:creationId xmlns:a16="http://schemas.microsoft.com/office/drawing/2014/main" id="{973E474C-EF69-4A32-B736-7B6D03C7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0"/>
            <a:ext cx="1338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Opening + receipts - waste - closing</a:t>
            </a:r>
          </a:p>
        </p:txBody>
      </p:sp>
      <p:sp>
        <p:nvSpPr>
          <p:cNvPr id="133" name="Stock example">
            <a:extLst xmlns:a="http://schemas.openxmlformats.org/drawingml/2006/main">
              <a:ext uri="{FF2B5EF4-FFF2-40B4-BE49-F238E27FC236}">
                <a16:creationId xmlns:a16="http://schemas.microsoft.com/office/drawing/2014/main" id="{F2250B8F-AEA7-4760-BB37-BBC27C6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0"/>
            <a:ext cx="1338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4575" b="1">
                <a:solidFill>
                  <a:srgbClr val="E64626"/>
                </a:solidFill>
                <a:latin typeface="Calibri"/>
                <a:ea typeface="Calibri"/>
                <a:cs typeface="Calibri"/>
              </a:defRPr>
            </a:pPr>
            <a:r>
              <a:rPr sz="4575" b="1">
                <a:solidFill>
                  <a:srgbClr val="E64626"/>
                </a:solidFill>
                <a:latin typeface="Calibri"/>
                <a:ea typeface="Calibri"/>
                <a:cs typeface="Calibri"/>
              </a:rPr>
              <a:t>100 + 10 - 2 - 88 = 20 rice packs</a:t>
            </a:r>
          </a:p>
        </p:txBody>
      </p:sp>
      <p:sp>
        <p:nvSpPr>
          <p:cNvPr id="134" name="Stock caveat">
            <a:extLst xmlns:a="http://schemas.openxmlformats.org/drawingml/2006/main">
              <a:ext uri="{FF2B5EF4-FFF2-40B4-BE49-F238E27FC236}">
                <a16:creationId xmlns:a16="http://schemas.microsoft.com/office/drawing/2014/main" id="{5F94AF66-08CD-4CF7-9698-09EB14C8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0"/>
            <a:ext cx="1338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Verified synthetic showcase. Dispensing is an estimate,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495B6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495B63"/>
                </a:solidFill>
                <a:latin typeface="Calibri"/>
                <a:ea typeface="Calibri"/>
                <a:cs typeface="Calibri"/>
              </a:rPr>
              <a:t>not a count of individual handouts.</a:t>
            </a:r>
          </a:p>
        </p:txBody>
      </p:sp>
      <p:sp>
        <p:nvSpPr>
          <p:cNvPr id="135" name="Scope and next steps">
            <a:extLst xmlns:a="http://schemas.openxmlformats.org/drawingml/2006/main">
              <a:ext uri="{FF2B5EF4-FFF2-40B4-BE49-F238E27FC236}">
                <a16:creationId xmlns:a16="http://schemas.microsoft.com/office/drawing/2014/main" id="{11DF3DA3-3741-476C-9427-998B42D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6099750"/>
            <a:ext cx="1309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Validation and scope</a:t>
            </a:r>
          </a:p>
        </p:txBody>
      </p:sp>
      <p:sp>
        <p:nvSpPr>
          <p:cNvPr id="136" name="Limitations">
            <a:extLst xmlns:a="http://schemas.openxmlformats.org/drawingml/2006/main">
              <a:ext uri="{FF2B5EF4-FFF2-40B4-BE49-F238E27FC236}">
                <a16:creationId xmlns:a16="http://schemas.microsoft.com/office/drawing/2014/main" id="{72DC05DD-3BB2-4EEB-B441-34936AE4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37052250"/>
            <a:ext cx="1309687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182E38"/>
                </a:solidFill>
                <a:latin typeface="Calibri"/>
                <a:ea typeface="Calibri"/>
                <a:cs typeface="Calibri"/>
              </a:defRPr>
            </a:pPr>
            <a:r>
              <a:rPr sz="3600" b="0">
                <a:solidFill>
                  <a:srgbClr val="182E38"/>
                </a:solidFill>
                <a:latin typeface="Calibri"/>
                <a:ea typeface="Calibri"/>
                <a:cs typeface="Calibri"/>
              </a:rPr>
              <a:t>44/44 tests passed twice on PostgreSQL 16.15, including 10 concurrency scenarios. UniKey sign-in and token entry are simulated. QR images, email delivery and university authentication remain outside scope.</a:t>
            </a:r>
          </a:p>
        </p:txBody>
      </p:sp>
      <p:sp>
        <p:nvSpPr>
          <p:cNvPr id="137" name="Acknowledgement body">
            <a:extLst xmlns:a="http://schemas.openxmlformats.org/drawingml/2006/main">
              <a:ext uri="{FF2B5EF4-FFF2-40B4-BE49-F238E27FC236}">
                <a16:creationId xmlns:a16="http://schemas.microsoft.com/office/drawing/2014/main" id="{C515DFF7-9211-4D0A-A30B-FA62C619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3" y="41005125"/>
            <a:ext cx="277463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Based on Group 94 project code and documents. OpenAI Codex assisted with source review, implementation, tests, documentation and layout.</a:t>
            </a:r>
          </a:p>
          <a:p xmlns:a="http://schemas.openxmlformats.org/drawingml/2006/main">
            <a:pPr algn="l">
              <a:buNone/>
              <a:defRPr sz="30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Sources: revised 01_schema.sql, services.py and evidence/test-results-run-1.json and run-2.json. Synthetic data only.</a:t>
            </a:r>
          </a:p>
        </p:txBody>
      </p:sp>
    </p:spTree>
    <p:extLst>
      <p:ext uri="{BB962C8B-B14F-4D97-AF65-F5344CB8AC3E}">
        <p14:creationId xmlns:p14="http://schemas.microsoft.com/office/powerpoint/2010/main" val="1171453620"/>
      </p:ext>
    </p:extLst>
  </p:cSld>
</p:sld>
</file>

<file path=ppt/theme/theme1.xml><?xml version="1.0" encoding="utf-8"?>
<a:theme xmlns:a="http://schemas.openxmlformats.org/drawingml/2006/main" name="USYD_conference poster templates PORTRAIT_R[2]">
  <a:themeElements>
    <a:clrScheme name="USY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E1126"/>
      </a:accent1>
      <a:accent2>
        <a:srgbClr val="12416C"/>
      </a:accent2>
      <a:accent3>
        <a:srgbClr val="F9B72C"/>
      </a:accent3>
      <a:accent4>
        <a:srgbClr val="FBCD6B"/>
      </a:accent4>
      <a:accent5>
        <a:srgbClr val="006699"/>
      </a:accent5>
      <a:accent6>
        <a:srgbClr val="361D2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SY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2026-10-24T09:45:47.0690000Z</dcterms:created>
  <dcterms:modified xsi:type="dcterms:W3CDTF">2026-10-24T09:45:47.0690000Z</dcterms:modified>
</coreProperties>
</file>